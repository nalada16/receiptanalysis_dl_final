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8B1A2B"/>
                </a:solidFill>
                <a:latin typeface="Microsoft JhengHei"/>
              </a:rPr>
              <a:t>個人化消費增量分析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749039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55555"/>
                </a:solidFill>
                <a:latin typeface="Microsoft JhengHei"/>
              </a:rPr>
              <a:t>商品語意分群 · 兩層式商品分類 · 個人消費增量（通膨）診斷　|　成員 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8B1A2B"/>
                </a:solidFill>
                <a:latin typeface="Microsoft JhengHei"/>
              </a:rPr>
              <a:t>基本介紹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2743200" cy="3175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0">
                <a:solidFill>
                  <a:srgbClr val="2C3E50"/>
                </a:solidFill>
                <a:latin typeface="Microsoft JhengHei"/>
              </a:rPr>
              <a:t>• 核心目的：解釋「這個月多花的錢，花在哪裡」</a:t>
            </a:r>
          </a:p>
          <a:p>
            <a:pPr>
              <a:spcAft>
                <a:spcPts val="700"/>
              </a:spcAft>
            </a:pPr>
            <a:r>
              <a:rPr sz="1900" b="0">
                <a:solidFill>
                  <a:srgbClr val="2C3E50"/>
                </a:solidFill>
                <a:latin typeface="Microsoft JhengHei"/>
              </a:rPr>
              <a:t>• 透過分群演算法找出長期固定購買的同類型商品，再做時間序列分析</a:t>
            </a:r>
          </a:p>
          <a:p>
            <a:pPr>
              <a:spcAft>
                <a:spcPts val="700"/>
              </a:spcAft>
            </a:pPr>
            <a:r>
              <a:rPr sz="1900" b="0">
                <a:solidFill>
                  <a:srgbClr val="2C3E50"/>
                </a:solidFill>
                <a:latin typeface="Microsoft JhengHei"/>
              </a:rPr>
              <a:t>• Input：任務一經 BERT embedding 後的發票資料（2613 筆、3 人、9 個月）</a:t>
            </a:r>
          </a:p>
          <a:p>
            <a:pPr>
              <a:spcAft>
                <a:spcPts val="700"/>
              </a:spcAft>
            </a:pPr>
            <a:r>
              <a:rPr sz="1900" b="0">
                <a:solidFill>
                  <a:srgbClr val="2C3E50"/>
                </a:solidFill>
                <a:latin typeface="Microsoft JhengHei"/>
              </a:rPr>
              <a:t>• Output：商品分群結果 + 個人消費增量分析報告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8B1A2B"/>
                </a:solidFill>
                <a:latin typeface="Microsoft JhengHei"/>
              </a:rPr>
              <a:t>系統 / 實驗架構（三階段）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2743200" cy="3175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ayer3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1253" y="1143000"/>
            <a:ext cx="3559012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011680"/>
            <a:ext cx="27432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2C3E50"/>
                </a:solidFill>
                <a:latin typeface="Microsoft JhengHei"/>
              </a:rPr>
              <a:t>• 第一階段（精準層）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55555"/>
                </a:solidFill>
                <a:latin typeface="Microsoft JhengHei"/>
              </a:rPr>
              <a:t>    – BERT → UMAP → HDBSCAN → ~110 細群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2C3E50"/>
                </a:solidFill>
                <a:latin typeface="Microsoft JhengHei"/>
              </a:rPr>
              <a:t>• 第二階段（故事層）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55555"/>
                </a:solidFill>
                <a:latin typeface="Microsoft JhengHei"/>
              </a:rPr>
              <a:t>    – 去 noise/不純群 → AHC 合併 → 25 超類型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2C3E50"/>
                </a:solidFill>
                <a:latin typeface="Microsoft JhengHei"/>
              </a:rPr>
              <a:t>• 第三階段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55555"/>
                </a:solidFill>
                <a:latin typeface="Microsoft JhengHei"/>
              </a:rPr>
              <a:t>    – 個人化增量分析（變貴/買更多）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8B1A2B"/>
                </a:solidFill>
                <a:latin typeface="Microsoft JhengHei"/>
              </a:rPr>
              <a:t>第一階段：商品語意分群（精準層）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2743200" cy="3175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2C3E50"/>
                </a:solidFill>
                <a:latin typeface="Microsoft JhengHei"/>
              </a:rPr>
              <a:t>• 目的：產出乾淨、語意一致、可追單一商品單價的細群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C3E50"/>
                </a:solidFill>
                <a:latin typeface="Microsoft JhengHei"/>
              </a:rPr>
              <a:t>• Input：所有人資料一起做分群（pooled）　|　Output：~110 群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C3E50"/>
                </a:solidFill>
                <a:latin typeface="Microsoft JhengHei"/>
              </a:rPr>
              <a:t>• Evaluation：silhouette 0.88、purity 0.99、noise 6.9%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C3E50"/>
                </a:solidFill>
                <a:latin typeface="Microsoft JhengHei"/>
              </a:rPr>
              <a:t>• UMAP：保留局部語意、壓低維度（noise 砍 ~5 倍）；HDBSCAN：自動決定群數、標記 noise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4023360"/>
          <a:ext cx="103327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75488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細群</a:t>
                      </a:r>
                    </a:p>
                  </a:txBody>
                  <a:tcPr anchor="ctr">
                    <a:solidFill>
                      <a:srgbClr val="8B1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群內主要品項</a:t>
                      </a:r>
                    </a:p>
                  </a:txBody>
                  <a:tcPr anchor="ctr">
                    <a:solidFill>
                      <a:srgbClr val="8B1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解讀</a:t>
                      </a:r>
                    </a:p>
                  </a:txBody>
                  <a:tcPr anchor="ctr">
                    <a:solidFill>
                      <a:srgbClr val="8B1A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大冰美式 等3款</a:t>
                      </a:r>
                    </a:p>
                  </a:txBody>
                  <a:tcPr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大冰美式 / 特大冰美式 / 中冰美式</a:t>
                      </a:r>
                    </a:p>
                  </a:txBody>
                  <a:tcPr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美式咖啡（不同容量）</a:t>
                      </a:r>
                    </a:p>
                  </a:txBody>
                  <a:tcPr anchor="ctr">
                    <a:solidFill>
                      <a:srgbClr val="F6F1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皮蛋乾麵 等15款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皮蛋乾麵 / 燙青菜 / 蛤蠣湯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麵店主食+小菜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母傳清燉牛肉 等6款</a:t>
                      </a:r>
                    </a:p>
                  </a:txBody>
                  <a:tcPr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清燉牛肉 / 紅燒牛肉 / 紅燒三寶</a:t>
                      </a:r>
                    </a:p>
                  </a:txBody>
                  <a:tcPr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牛肉麵店全餐點</a:t>
                      </a:r>
                    </a:p>
                  </a:txBody>
                  <a:tcPr anchor="ctr">
                    <a:solidFill>
                      <a:srgbClr val="F6F1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8B1A2B"/>
                </a:solidFill>
                <a:latin typeface="Microsoft JhengHei"/>
              </a:rPr>
              <a:t>為何「全部人一起分群」（pooled）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2743200" cy="3175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2C3E50"/>
                </a:solidFill>
                <a:latin typeface="Microsoft JhengHei"/>
              </a:rPr>
              <a:t>• 分群＝建一本共用商品字典（商品身份與「誰買」無關），三人共用同一套定義才能跨人對齊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2C3E50"/>
                </a:solidFill>
                <a:latin typeface="Microsoft JhengHei"/>
              </a:rPr>
              <a:t>• 實測「三人分開分群」對小資料量者崩潰：粒度崩塌（user 2：59→8 群）、失去跨人可比（100%→0%）</a:t>
            </a:r>
          </a:p>
        </p:txBody>
      </p:sp>
      <p:pic>
        <p:nvPicPr>
          <p:cNvPr id="5" name="Picture 4" descr="pu_step3c_use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68880"/>
            <a:ext cx="5486398" cy="23710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85819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Microsoft JhengHei"/>
              </a:rPr>
              <a:t>分開分群：user 2 只剩 3–4 類，全是瓶裝水/文具</a:t>
            </a:r>
          </a:p>
        </p:txBody>
      </p:sp>
      <p:pic>
        <p:nvPicPr>
          <p:cNvPr id="7" name="Picture 6" descr="step3d_K25_use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468880"/>
            <a:ext cx="5486398" cy="237103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485819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Microsoft JhengHei"/>
              </a:rPr>
              <a:t>一起分群：速食/茶飲/零食…正常多元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1">
                <a:solidFill>
                  <a:srgbClr val="555555"/>
                </a:solidFill>
                <a:latin typeface="Microsoft JhengHei"/>
              </a:rPr>
              <a:t>分群是「建字典」、診斷才「分人」——pooled 不會把個人消費混在一起算。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8B1A2B"/>
                </a:solidFill>
                <a:latin typeface="Microsoft JhengHei"/>
              </a:rPr>
              <a:t>與其他分群演算法 / baseline 比較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2743200" cy="3175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67665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097280"/>
                <a:gridCol w="109728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方法</a:t>
                      </a:r>
                    </a:p>
                  </a:txBody>
                  <a:tcPr anchor="ctr">
                    <a:solidFill>
                      <a:srgbClr val="8B1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覆蓋率</a:t>
                      </a:r>
                    </a:p>
                  </a:txBody>
                  <a:tcPr anchor="ctr">
                    <a:solidFill>
                      <a:srgbClr val="8B1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noise</a:t>
                      </a:r>
                    </a:p>
                  </a:txBody>
                  <a:tcPr anchor="ctr">
                    <a:solidFill>
                      <a:srgbClr val="8B1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silhouette</a:t>
                      </a:r>
                    </a:p>
                  </a:txBody>
                  <a:tcPr anchor="ctr">
                    <a:solidFill>
                      <a:srgbClr val="8B1A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Regex 關鍵字（規則下限）</a:t>
                      </a:r>
                    </a:p>
                  </a:txBody>
                  <a:tcPr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0.44</a:t>
                      </a:r>
                    </a:p>
                  </a:txBody>
                  <a:tcPr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56%</a:t>
                      </a:r>
                    </a:p>
                  </a:txBody>
                  <a:tcPr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0.26</a:t>
                      </a:r>
                    </a:p>
                  </a:txBody>
                  <a:tcPr anchor="ctr">
                    <a:solidFill>
                      <a:srgbClr val="F6F1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TF-IDF + HDBSCAN（傳統 ML）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0.64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36%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0.71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BERT + K-Means（消融）</a:t>
                      </a:r>
                    </a:p>
                  </a:txBody>
                  <a:tcPr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1.00</a:t>
                      </a:r>
                    </a:p>
                  </a:txBody>
                  <a:tcPr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0%</a:t>
                      </a:r>
                    </a:p>
                  </a:txBody>
                  <a:tcPr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0.83</a:t>
                      </a:r>
                    </a:p>
                  </a:txBody>
                  <a:tcPr anchor="ctr">
                    <a:solidFill>
                      <a:srgbClr val="F6F1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BERTopic（Ours）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0.93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0.88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1148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2C3E50"/>
                </a:solidFill>
                <a:latin typeface="Microsoft JhengHei"/>
              </a:rPr>
              <a:t>• Ours 同時解決：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55555"/>
                </a:solidFill>
                <a:latin typeface="Microsoft JhengHei"/>
              </a:rPr>
              <a:t>    – 語意辨識不清（覆蓋率 44%→93%）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55555"/>
                </a:solidFill>
                <a:latin typeface="Microsoft JhengHei"/>
              </a:rPr>
              <a:t>    – 雜訊干擾（noise 36%→7%）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2C3E50"/>
                </a:solidFill>
                <a:latin typeface="Microsoft JhengHei"/>
              </a:rPr>
              <a:t>• BERT+KMeans 的 0% noise 是假象：強迫每點進群、無離群機制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8B1A2B"/>
                </a:solidFill>
                <a:latin typeface="Microsoft JhengHei"/>
              </a:rPr>
              <a:t>我們也試過：加價格 feature（負面結果）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2743200" cy="3175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f_clusterin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280160"/>
            <a:ext cx="6583679" cy="22004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371600"/>
            <a:ext cx="45720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2C3E50"/>
                </a:solidFill>
                <a:latin typeface="Microsoft JhengHei"/>
              </a:rPr>
              <a:t>• 想法：BERT 輸入含金額區間但訊號被稀釋，試在 UMAP 後顯式加價格特徵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2C3E50"/>
                </a:solidFill>
                <a:latin typeface="Microsoft JhengHei"/>
              </a:rPr>
              <a:t>• 結果：純 UMAP 最佳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555555"/>
                </a:solidFill>
                <a:latin typeface="Microsoft JhengHei"/>
              </a:rPr>
              <a:t>    – noise 5.6% vs 加價格 7.5–10.5%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555555"/>
                </a:solidFill>
                <a:latin typeface="Microsoft JhengHei"/>
              </a:rPr>
              <a:t>    – silhouette 0.87 vs 0.81–0.83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2C3E50"/>
                </a:solidFill>
                <a:latin typeface="Microsoft JhengHei"/>
              </a:rPr>
              <a:t>• 原因：BERT 已隱含價格訊號，顯式加入＝冗餘+噪音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2C3E50"/>
                </a:solidFill>
                <a:latin typeface="Microsoft JhengHei"/>
              </a:rPr>
              <a:t>• 「試過、數字說不行」的誠實負面結果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8B1A2B"/>
                </a:solidFill>
                <a:latin typeface="Microsoft JhengHei"/>
              </a:rPr>
              <a:t>為何需要第二層（合併成超類型）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2743200" cy="3175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2C3E50"/>
                </a:solidFill>
                <a:latin typeface="Microsoft JhengHei"/>
              </a:rPr>
              <a:t>• 問題：~110 細群對「多花在哪」太細，錢被切太碎、講不出重點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C3E50"/>
                </a:solidFill>
                <a:latin typeface="Microsoft JhengHei"/>
              </a:rPr>
              <a:t>• 做法：去掉 noise + 不純細群（單價落差 p90/p10&gt;6，如代收/購物袋雜物群），再把細群中心向量合併成 25 群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C3E50"/>
                </a:solidFill>
                <a:latin typeface="Microsoft JhengHei"/>
              </a:rPr>
              <a:t>• 為何第二層用 Agglomerative Hierarchical Clustering（非 HDBSCAN）：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55555"/>
                </a:solidFill>
                <a:latin typeface="Microsoft JhengHei"/>
              </a:rPr>
              <a:t>    – 可直接指定群數 K（HDBSCAN 不能精準控 K，我們要剛好 25 個大類）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55555"/>
                </a:solidFill>
                <a:latin typeface="Microsoft JhengHei"/>
              </a:rPr>
              <a:t>    – 只對 ~108 個細群中心分群，點少、算力低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55555"/>
                </a:solidFill>
                <a:latin typeface="Microsoft JhengHei"/>
              </a:rPr>
              <a:t>    – 「一個細群一票」合併，不受購買頻率灌水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C3E50"/>
                </a:solidFill>
                <a:latin typeface="Microsoft JhengHei"/>
              </a:rPr>
              <a:t>• K 的選擇：比較 K=15/25/35，K=15 太粗、K=35 略瑣碎 → 採 K=25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8B1A2B"/>
                </a:solidFill>
                <a:latin typeface="Microsoft JhengHei"/>
              </a:rPr>
              <a:t>第二層分群結果（25 超類型，節選）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2743200" cy="3175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41732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97280"/>
                <a:gridCol w="65836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超類型（人工命名）</a:t>
                      </a:r>
                    </a:p>
                  </a:txBody>
                  <a:tcPr anchor="ctr">
                    <a:solidFill>
                      <a:srgbClr val="8B1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品項數</a:t>
                      </a:r>
                    </a:p>
                  </a:txBody>
                  <a:tcPr anchor="ctr">
                    <a:solidFill>
                      <a:srgbClr val="8B1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代表品項</a:t>
                      </a:r>
                    </a:p>
                  </a:txBody>
                  <a:tcPr anchor="ctr">
                    <a:solidFill>
                      <a:srgbClr val="8B1A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超商零食點心</a:t>
                      </a:r>
                    </a:p>
                  </a:txBody>
                  <a:tcPr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78</a:t>
                      </a:r>
                    </a:p>
                  </a:txBody>
                  <a:tcPr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金塊香蒜-小單位 / 卡辣姆久平切洋芋片勁辣唐辛35元 / 星-二配板巧克力夾心土司</a:t>
                      </a:r>
                    </a:p>
                  </a:txBody>
                  <a:tcPr anchor="ctr">
                    <a:solidFill>
                      <a:srgbClr val="F6F1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手搖飲料與麵食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金萱雙q / 大1四季春珍波椰 / 清爽沙拉飯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瓶裝茶飲</a:t>
                      </a:r>
                    </a:p>
                  </a:txBody>
                  <a:tcPr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64</a:t>
                      </a:r>
                    </a:p>
                  </a:txBody>
                  <a:tcPr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午后時光-重乳奶茶tp330 / 冰紅茶-大 / 芽香綠金萱</a:t>
                      </a:r>
                    </a:p>
                  </a:txBody>
                  <a:tcPr anchor="ctr">
                    <a:solidFill>
                      <a:srgbClr val="F6F1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正餐主食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嫩切雞肉堡6吋 / 12fit - 特餐_七味蒜香雞胸 / 母傳原湯清燉牛肉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停車費</a:t>
                      </a:r>
                    </a:p>
                  </a:txBody>
                  <a:tcPr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5</a:t>
                      </a:r>
                    </a:p>
                  </a:txBody>
                  <a:tcPr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parking fee / 停車費 / parkingfee</a:t>
                      </a:r>
                    </a:p>
                  </a:txBody>
                  <a:tcPr anchor="ctr">
                    <a:solidFill>
                      <a:srgbClr val="F6F1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速食小食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配-經典大薯 / 涼拌豆干絲 / 四塊麥克雞塊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手搖甜點飲</a:t>
                      </a:r>
                    </a:p>
                  </a:txBody>
                  <a:tcPr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26</a:t>
                      </a:r>
                    </a:p>
                  </a:txBody>
                  <a:tcPr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紅茶 / 多多綠茶 / 奶茶</a:t>
                      </a:r>
                    </a:p>
                  </a:txBody>
                  <a:tcPr anchor="ctr">
                    <a:solidFill>
                      <a:srgbClr val="F6F1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黑咖啡與輕食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16oz / 美式冰咖啡 / 輕食咖啡廳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生鮮水果早餐</a:t>
                      </a:r>
                    </a:p>
                  </a:txBody>
                  <a:tcPr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31</a:t>
                      </a:r>
                    </a:p>
                  </a:txBody>
                  <a:tcPr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  <a:latin typeface="Microsoft JhengHei"/>
                        </a:rPr>
                        <a:t>台灣香蕉重量分享包 / 芽香綠金萱 / 桂格100%燕麥</a:t>
                      </a:r>
                    </a:p>
                  </a:txBody>
                  <a:tcPr anchor="ctr">
                    <a:solidFill>
                      <a:srgbClr val="F6F1F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1">
                <a:solidFill>
                  <a:srgbClr val="555555"/>
                </a:solidFill>
                <a:latin typeface="Microsoft JhengHei"/>
              </a:rPr>
              <a:t>細群（精準層）保留可追單品；超類型（故事層）給「多花在哪大類」的 headline，可下鑽。完整見 supertype_K25_members.csv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8B1A2B"/>
                </a:solidFill>
                <a:latin typeface="Microsoft JhengHei"/>
              </a:rPr>
              <a:t>第三階段：個人化增量分析 — 方法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2743200" cy="3175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2C3E50"/>
                </a:solidFill>
                <a:latin typeface="Microsoft JhengHei"/>
              </a:rPr>
              <a:t>• 定義：每人「這個月」=最新月(2026-05)；「平常」=之前所有月的月均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C3E50"/>
                </a:solidFill>
                <a:latin typeface="Microsoft JhengHei"/>
              </a:rPr>
              <a:t>• 兩因子拆解公式：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55555"/>
                </a:solidFill>
                <a:latin typeface="Microsoft JhengHei"/>
              </a:rPr>
              <a:t>    – 變貴 = (本月單價 − 平常單價) × 本月數量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55555"/>
                </a:solidFill>
                <a:latin typeface="Microsoft JhengHei"/>
              </a:rPr>
              <a:t>    – 買更多 = (本月數量 − 平常月均數量) × 平常單價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55555"/>
                </a:solidFill>
                <a:latin typeface="Microsoft JhengHei"/>
              </a:rPr>
              <a:t>    – 增量 ΔS = 變貴 + 買更多 = 這個月 − 一個典型月 的花費差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C3E50"/>
                </a:solidFill>
                <a:latin typeface="Microsoft JhengHei"/>
              </a:rPr>
              <a:t>• 門檻（只分析值得比的類型）：基期≥2 月 且（月均量≥10 或 月均花費≥100）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C3E50"/>
                </a:solidFill>
                <a:latin typeface="Microsoft JhengHei"/>
              </a:rPr>
              <a:t>• 舉例：珍奶「50→70 元」是變貴；「一月 5 杯→10 杯」是買更多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8B1A2B"/>
                </a:solidFill>
                <a:latin typeface="Microsoft JhengHei"/>
              </a:rPr>
              <a:t>三人「這個月多花 / 少花在哪」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2743200" cy="3175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463040"/>
                <a:gridCol w="2377440"/>
                <a:gridCol w="64008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user</a:t>
                      </a:r>
                    </a:p>
                  </a:txBody>
                  <a:tcPr anchor="ctr">
                    <a:solidFill>
                      <a:srgbClr val="8B1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本月</a:t>
                      </a:r>
                    </a:p>
                  </a:txBody>
                  <a:tcPr anchor="ctr">
                    <a:solidFill>
                      <a:srgbClr val="8B1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最大貢獻類型</a:t>
                      </a:r>
                    </a:p>
                  </a:txBody>
                  <a:tcPr anchor="ctr">
                    <a:solidFill>
                      <a:srgbClr val="8B1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故事</a:t>
                      </a:r>
                    </a:p>
                  </a:txBody>
                  <a:tcPr anchor="ctr">
                    <a:solidFill>
                      <a:srgbClr val="8B1A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Microsoft JhengHei"/>
                        </a:rPr>
                        <a:t>0</a:t>
                      </a:r>
                    </a:p>
                  </a:txBody>
                  <a:tcPr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Microsoft JhengHei"/>
                        </a:rPr>
                        <a:t>多花 945</a:t>
                      </a:r>
                    </a:p>
                  </a:txBody>
                  <a:tcPr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Microsoft JhengHei"/>
                        </a:rPr>
                        <a:t>正餐主食 +1162</a:t>
                      </a:r>
                    </a:p>
                  </a:txBody>
                  <a:tcPr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Microsoft JhengHei"/>
                        </a:rPr>
                        <a:t>均價 115→256，含一筆 1199 元韓式烤肉聚餐</a:t>
                      </a:r>
                    </a:p>
                  </a:txBody>
                  <a:tcPr anchor="ctr">
                    <a:solidFill>
                      <a:srgbClr val="F6F1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Microsoft JhengHe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Microsoft JhengHei"/>
                        </a:rPr>
                        <a:t>少花 720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Microsoft JhengHei"/>
                        </a:rPr>
                        <a:t>正餐主食 +651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Microsoft JhengHei"/>
                        </a:rPr>
                        <a:t>正餐量價齊升，但手搖/咖啡大幅少買抵消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Microsoft JhengHei"/>
                        </a:rPr>
                        <a:t>2</a:t>
                      </a:r>
                    </a:p>
                  </a:txBody>
                  <a:tcPr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Microsoft JhengHei"/>
                        </a:rPr>
                        <a:t>多花 285</a:t>
                      </a:r>
                    </a:p>
                  </a:txBody>
                  <a:tcPr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Microsoft JhengHei"/>
                        </a:rPr>
                        <a:t>速食小食 +302</a:t>
                      </a:r>
                    </a:p>
                  </a:txBody>
                  <a:tcPr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Microsoft JhengHei"/>
                        </a:rPr>
                        <a:t>瓶裝茶飲漲 67%、速食買更多</a:t>
                      </a:r>
                    </a:p>
                  </a:txBody>
                  <a:tcPr anchor="ctr">
                    <a:solidFill>
                      <a:srgbClr val="F6F1F1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step3d_K25_user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0"/>
            <a:ext cx="3657598" cy="15806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799375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Microsoft JhengHei"/>
              </a:rPr>
              <a:t>user 0</a:t>
            </a:r>
          </a:p>
        </p:txBody>
      </p:sp>
      <p:pic>
        <p:nvPicPr>
          <p:cNvPr id="7" name="Picture 6" descr="step3d_K25_user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3200400"/>
            <a:ext cx="3657598" cy="15806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61104" y="4799375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Microsoft JhengHei"/>
              </a:rPr>
              <a:t>user 1</a:t>
            </a:r>
          </a:p>
        </p:txBody>
      </p:sp>
      <p:pic>
        <p:nvPicPr>
          <p:cNvPr id="9" name="Picture 8" descr="step3d_K25_user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8" y="3200400"/>
            <a:ext cx="3657598" cy="158068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73568" y="4799375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Microsoft JhengHei"/>
              </a:rPr>
              <a:t>user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8B1A2B"/>
                </a:solidFill>
                <a:latin typeface="Microsoft JhengHei"/>
              </a:rPr>
              <a:t>核心發現 + 有趣案例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2743200" cy="3175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2C3E50"/>
                </a:solidFill>
                <a:latin typeface="Microsoft JhengHei"/>
              </a:rPr>
              <a:t>• ① 個人通膨是「品項分化」的，不是齊漲：user 1 正餐 +19%、但手搖甜點 −7%、咖啡 −5%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2C3E50"/>
                </a:solidFill>
                <a:latin typeface="Microsoft JhengHei"/>
              </a:rPr>
              <a:t>• ② 「變貴」要分辨真漲價 vs 偶發高價（重點案例）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55555"/>
                </a:solidFill>
                <a:latin typeface="Microsoft JhengHei"/>
              </a:rPr>
              <a:t>    – user 0 正餐主食均價暴衝 115→256（+123%）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55555"/>
                </a:solidFill>
                <a:latin typeface="Microsoft JhengHei"/>
              </a:rPr>
              <a:t>    – 下鑽品項：平常 99 元雞肉堡 + 一筆 1199 元韓式烤肉 2 人套餐（聚餐）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55555"/>
                </a:solidFill>
                <a:latin typeface="Microsoft JhengHei"/>
              </a:rPr>
              <a:t>    – → 非系統性漲價，而是一次性高價聚餐；展示可下鑽到品項層級驗證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2C3E50"/>
                </a:solidFill>
                <a:latin typeface="Microsoft JhengHei"/>
              </a:rPr>
              <a:t>• ③ 部分是「買更多」非「變貴」：user 2 速食 6.3→11 份，增量幾乎全來自量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8B1A2B"/>
                </a:solidFill>
                <a:latin typeface="Microsoft JhengHei"/>
              </a:rPr>
              <a:t>延伸洞察：跨全時序（不只看本月）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2743200" cy="3175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ght_monthly_sp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400800" cy="3166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23760" y="1371600"/>
            <a:ext cx="46634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50" b="0">
                <a:solidFill>
                  <a:srgbClr val="2C3E50"/>
                </a:solidFill>
                <a:latin typeface="Microsoft JhengHei"/>
              </a:rPr>
              <a:t>• 寒假效應：user 0、2 在 2026-01 暴跌（680 / 39 元），user 1 反而最高</a:t>
            </a:r>
          </a:p>
          <a:p>
            <a:pPr>
              <a:spcAft>
                <a:spcPts val="700"/>
              </a:spcAft>
            </a:pPr>
            <a:r>
              <a:rPr sz="1350" b="0">
                <a:solidFill>
                  <a:srgbClr val="2C3E50"/>
                </a:solidFill>
                <a:latin typeface="Microsoft JhengHei"/>
              </a:rPr>
              <a:t>• 長期習慣：user 1 瓶裝茶飲翻倍（8→16）、停車減半（22→11）；user 0 速食戒掉（24→3）</a:t>
            </a:r>
          </a:p>
          <a:p>
            <a:pPr>
              <a:spcAft>
                <a:spcPts val="700"/>
              </a:spcAft>
            </a:pPr>
            <a:r>
              <a:rPr sz="1350" b="0">
                <a:solidFill>
                  <a:srgbClr val="2C3E50"/>
                </a:solidFill>
                <a:latin typeface="Microsoft JhengHei"/>
              </a:rPr>
              <a:t>• 單月暴衝：user 0 速食 9/10 月 3.3×、user 1 運動健身 1 月 2.9×</a:t>
            </a:r>
          </a:p>
          <a:p>
            <a:pPr>
              <a:spcAft>
                <a:spcPts val="700"/>
              </a:spcAft>
            </a:pPr>
            <a:r>
              <a:rPr sz="1350" b="0">
                <a:solidFill>
                  <a:srgbClr val="2C3E50"/>
                </a:solidFill>
                <a:latin typeface="Microsoft JhengHei"/>
              </a:rPr>
              <a:t>• → 「異常落在哪個類型」正是成員 B 異常偵測(Layer 2)的可解釋線索，串接整個系統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8B1A2B"/>
                </a:solidFill>
                <a:latin typeface="Microsoft JhengHei"/>
              </a:rPr>
              <a:t>結論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2743200" cy="3175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2C3E50"/>
                </a:solidFill>
                <a:latin typeface="Microsoft JhengHei"/>
              </a:rPr>
              <a:t>• 以 BERT + UMAP + HDBSCAN 建立高品質商品語意分群（noise 7%、純度 0.99），有完整方法與 baseline 驗證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C3E50"/>
                </a:solidFill>
                <a:latin typeface="Microsoft JhengHei"/>
              </a:rPr>
              <a:t>• 設計兩層商品分類體系（細群追價 + 超類型講故事），並以實驗否決「分開分群」與「加價格 feature」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C3E50"/>
                </a:solidFill>
                <a:latin typeface="Microsoft JhengHei"/>
              </a:rPr>
              <a:t>• 完成個人消費增量分析（超類型 K=25），拆解「變貴 vs 買更多」，揭示個人通膨的品項分化特性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C3E50"/>
                </a:solidFill>
                <a:latin typeface="Microsoft JhengHei"/>
              </a:rPr>
              <a:t>• 跨時序延伸洞察（寒假季節性、習慣長期成長/衰退、單月暴衝），為成員 B 時序預測與異常偵測提供可解釋線索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8B1A2B"/>
                </a:solidFill>
                <a:latin typeface="Microsoft JhengHei"/>
              </a:rPr>
              <a:t>Backup / 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2743200" cy="3175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2C3E50"/>
                </a:solidFill>
                <a:latin typeface="Microsoft JhengHei"/>
              </a:rPr>
              <a:t>• 指標怎麼算：purity（每群多數類別佔比）、NMI（分群與標籤互資訊，懲罰群數過多）、silhouette（群內緊群間分）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2C3E50"/>
                </a:solidFill>
                <a:latin typeface="Microsoft JhengHei"/>
              </a:rPr>
              <a:t>• 為何 pooled 不會洩漏個人消費：分群只看品名/店名語意，診斷才帶 user_id 分人算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2C3E50"/>
                </a:solidFill>
                <a:latin typeface="Microsoft JhengHei"/>
              </a:rPr>
              <a:t>• 第二層 AHC vs KMeans：AHC 確定性（KMeans 換 seed 結果就變，seed 間 ARI 0.47）、附 dendrogram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2C3E50"/>
                </a:solidFill>
                <a:latin typeface="Microsoft JhengHei"/>
              </a:rPr>
              <a:t>• 資料限制：飲食佔 82%、發票覆蓋率（現金/訂閱無發票）、低頻品項無法納入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